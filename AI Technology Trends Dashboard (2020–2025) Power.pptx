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6A10D3-D658-487E-BD09-F09A7444840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B45A56-F63C-4B9C-96E9-B5856FCF7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182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B45A56-F63C-4B9C-96E9-B5856FCF78F5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819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B45A56-F63C-4B9C-96E9-B5856FCF78F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4142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Deep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B45A56-F63C-4B9C-96E9-B5856FCF78F5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156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/>
              <a:t>Gobal</a:t>
            </a:r>
            <a:r>
              <a:rPr lang="en-IN" dirty="0"/>
              <a:t>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B45A56-F63C-4B9C-96E9-B5856FCF78F5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099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2CDD-54E5-433E-8D72-9EB01CE2FE8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6FBF-5CC7-4698-AAD3-9CD5364DC8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474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2CDD-54E5-433E-8D72-9EB01CE2FE8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6FBF-5CC7-4698-AAD3-9CD5364DC8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359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2CDD-54E5-433E-8D72-9EB01CE2FE8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6FBF-5CC7-4698-AAD3-9CD5364DC8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530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2CDD-54E5-433E-8D72-9EB01CE2FE8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6FBF-5CC7-4698-AAD3-9CD5364DC8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921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2CDD-54E5-433E-8D72-9EB01CE2FE8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6FBF-5CC7-4698-AAD3-9CD5364DC8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024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2CDD-54E5-433E-8D72-9EB01CE2FE8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6FBF-5CC7-4698-AAD3-9CD5364DC8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72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2CDD-54E5-433E-8D72-9EB01CE2FE8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6FBF-5CC7-4698-AAD3-9CD5364DC8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51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2CDD-54E5-433E-8D72-9EB01CE2FE8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6FBF-5CC7-4698-AAD3-9CD5364DC8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3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2CDD-54E5-433E-8D72-9EB01CE2FE8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6FBF-5CC7-4698-AAD3-9CD5364DC8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22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2CDD-54E5-433E-8D72-9EB01CE2FE8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6FBF-5CC7-4698-AAD3-9CD5364DC8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395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2CDD-54E5-433E-8D72-9EB01CE2FE8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6FBF-5CC7-4698-AAD3-9CD5364DC8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113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2CDD-54E5-433E-8D72-9EB01CE2FE8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6FBF-5CC7-4698-AAD3-9CD5364DC8A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5971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2CDD-54E5-433E-8D72-9EB01CE2FE8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6FBF-5CC7-4698-AAD3-9CD5364DC8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260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2CDD-54E5-433E-8D72-9EB01CE2FE8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6FBF-5CC7-4698-AAD3-9CD5364DC8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6897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2CDD-54E5-433E-8D72-9EB01CE2FE8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6FBF-5CC7-4698-AAD3-9CD5364DC8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2369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2CDD-54E5-433E-8D72-9EB01CE2FE8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6FBF-5CC7-4698-AAD3-9CD5364DC8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9951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2CDD-54E5-433E-8D72-9EB01CE2FE8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C6FBF-5CC7-4698-AAD3-9CD5364DC8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732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0282CDD-54E5-433E-8D72-9EB01CE2FE8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EC6FBF-5CC7-4698-AAD3-9CD5364DC8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1156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B5F16-A464-1673-AFB3-A2E03CE145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129" y="155763"/>
            <a:ext cx="8149389" cy="4732421"/>
          </a:xfrm>
        </p:spPr>
        <p:txBody>
          <a:bodyPr/>
          <a:lstStyle/>
          <a:p>
            <a:r>
              <a:rPr lang="en-US" sz="6600" dirty="0">
                <a:solidFill>
                  <a:schemeClr val="tx1"/>
                </a:solidFill>
                <a:highlight>
                  <a:srgbClr val="000000"/>
                </a:highlight>
                <a:latin typeface="Arial Narrow" panose="020B0606020202030204" pitchFamily="34" charset="0"/>
              </a:rPr>
              <a:t>AI Technology Trends Dashboard (</a:t>
            </a:r>
            <a:r>
              <a:rPr lang="en-US" sz="6600">
                <a:solidFill>
                  <a:schemeClr val="tx1"/>
                </a:solidFill>
                <a:highlight>
                  <a:srgbClr val="000000"/>
                </a:highlight>
                <a:latin typeface="Arial Narrow" panose="020B0606020202030204" pitchFamily="34" charset="0"/>
              </a:rPr>
              <a:t>2020–2025) Power </a:t>
            </a:r>
            <a:r>
              <a:rPr lang="en-US" sz="6600" dirty="0">
                <a:solidFill>
                  <a:schemeClr val="tx1"/>
                </a:solidFill>
                <a:highlight>
                  <a:srgbClr val="000000"/>
                </a:highlight>
                <a:latin typeface="Arial Narrow" panose="020B0606020202030204" pitchFamily="34" charset="0"/>
              </a:rPr>
              <a:t>BI Project Presentation</a:t>
            </a:r>
            <a:endParaRPr lang="en-IN" sz="6600" dirty="0">
              <a:solidFill>
                <a:schemeClr val="tx1"/>
              </a:solidFill>
              <a:highlight>
                <a:srgbClr val="000000"/>
              </a:highlight>
              <a:latin typeface="Arial Narrow" panose="020B0606020202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603C2-78A0-D9C5-BFE8-1A90CBC37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5374104"/>
            <a:ext cx="8825658" cy="1259306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NAME: Harshita Bajaj</a:t>
            </a:r>
          </a:p>
          <a:p>
            <a:r>
              <a:rPr lang="en-US" dirty="0">
                <a:solidFill>
                  <a:schemeClr val="tx1"/>
                </a:solidFill>
              </a:rPr>
              <a:t>Course: Data Processing &amp; Business Analytics</a:t>
            </a:r>
          </a:p>
          <a:p>
            <a:r>
              <a:rPr lang="en-US" dirty="0">
                <a:solidFill>
                  <a:schemeClr val="tx1"/>
                </a:solidFill>
              </a:rPr>
              <a:t>Tools: Power BI, Excel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691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030F0-918B-9A0E-0794-E66DB5174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A0A0A"/>
                </a:solidFill>
                <a:latin typeface="Roboto Variable"/>
              </a:rPr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731F7-3665-2122-5652-2DEF50A15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Artificial Intelligence is rapidly transforming industries </a:t>
            </a:r>
            <a:r>
              <a:rPr lang="en-US" dirty="0" err="1"/>
              <a:t>worldwide.Organizations</a:t>
            </a:r>
            <a:r>
              <a:rPr lang="en-US" dirty="0"/>
              <a:t> are adopting AI to improve efficiency and decision-</a:t>
            </a:r>
            <a:r>
              <a:rPr lang="en-US" dirty="0" err="1"/>
              <a:t>making.This</a:t>
            </a:r>
            <a:r>
              <a:rPr lang="en-US" dirty="0"/>
              <a:t> project presents an analysis of AI technology trends from 2020 to 2025 using Power BI.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09EE13-0701-E419-0B5E-76E77EDC3EDD}"/>
              </a:ext>
            </a:extLst>
          </p:cNvPr>
          <p:cNvSpPr txBox="1"/>
          <p:nvPr/>
        </p:nvSpPr>
        <p:spPr>
          <a:xfrm flipV="1">
            <a:off x="1251283" y="1853248"/>
            <a:ext cx="87985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0587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465A0-3D5B-479D-BF55-76AF6D618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A0A0A"/>
                </a:solidFill>
                <a:latin typeface="Roboto Variable"/>
              </a:rPr>
              <a:t>Project 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3668D-4226-8031-1D6C-A07BCD634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solidFill>
                <a:srgbClr val="0A0A0A"/>
              </a:solidFill>
              <a:latin typeface="Roboto Variable"/>
            </a:endParaRPr>
          </a:p>
          <a:p>
            <a:pPr marL="0" indent="0">
              <a:buNone/>
            </a:pPr>
            <a:r>
              <a:rPr lang="en-US" dirty="0"/>
              <a:t>To analyze the growth of AI technologies over the years.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 study industry-wise and country-wise AI adoption.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 identify in-demand AI skills and job market trends.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4255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3A279-C43A-9E9B-5132-4AA823FB2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A0A0A"/>
                </a:solidFill>
                <a:latin typeface="Roboto Variable"/>
              </a:rPr>
              <a:t>Dataset Overview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D25B6-05B8-2DBE-6789-BA90EC481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includes AI-related data from 2020 to 2025.</a:t>
            </a:r>
          </a:p>
          <a:p>
            <a:endParaRPr lang="en-US" dirty="0"/>
          </a:p>
          <a:p>
            <a:r>
              <a:rPr lang="en-US" dirty="0"/>
              <a:t>Key attributes: Industry, Country, Skill, Salary, Investment, Growth Rate.</a:t>
            </a:r>
          </a:p>
          <a:p>
            <a:endParaRPr lang="en-US" dirty="0"/>
          </a:p>
          <a:p>
            <a:r>
              <a:rPr lang="en-US" dirty="0"/>
              <a:t>Data is used for comparative and trend-based analysis.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8EA97A-D829-0BD9-7693-AE68FBA92906}"/>
              </a:ext>
            </a:extLst>
          </p:cNvPr>
          <p:cNvSpPr txBox="1"/>
          <p:nvPr/>
        </p:nvSpPr>
        <p:spPr>
          <a:xfrm>
            <a:off x="3048000" y="32403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Dataset Overview</a:t>
            </a:r>
          </a:p>
        </p:txBody>
      </p:sp>
    </p:spTree>
    <p:extLst>
      <p:ext uri="{BB962C8B-B14F-4D97-AF65-F5344CB8AC3E}">
        <p14:creationId xmlns:p14="http://schemas.microsoft.com/office/powerpoint/2010/main" val="3636623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7EAE3-AFFB-0ACE-9811-7969B8B73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Power BI: Interactive dashboard creation and visualization.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Excel: Data cleaning and preprocessing.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DAX: Calculation of KPIs and measures.</a:t>
            </a:r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5035DB-9531-1AE8-86D2-95C7CB185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A0A0A"/>
                </a:solidFill>
                <a:latin typeface="Roboto Variable"/>
              </a:rPr>
              <a:t>Tools &amp; Technologies Used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1950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EADBE-92CA-BDCA-180C-25A579E15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A0A0A"/>
                </a:solidFill>
                <a:latin typeface="Roboto Variable"/>
              </a:rPr>
              <a:t>Key Performance Indicators (KPIs)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39DA1-4196-6915-10D9-66C09C673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number of AI startups.</a:t>
            </a:r>
          </a:p>
          <a:p>
            <a:endParaRPr lang="en-US" dirty="0"/>
          </a:p>
          <a:p>
            <a:r>
              <a:rPr lang="en-US" dirty="0"/>
              <a:t>Average salary of AI professionals.</a:t>
            </a:r>
          </a:p>
          <a:p>
            <a:endParaRPr lang="en-US" dirty="0"/>
          </a:p>
          <a:p>
            <a:r>
              <a:rPr lang="en-US" dirty="0"/>
              <a:t>Total investment in AI technologies.</a:t>
            </a:r>
          </a:p>
          <a:p>
            <a:endParaRPr lang="en-US" dirty="0"/>
          </a:p>
          <a:p>
            <a:r>
              <a:rPr lang="en-US" dirty="0"/>
              <a:t>Average growth rate across industries.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3264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2E4F0-E293-8E69-61C9-DCF97A4EC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A0A0A"/>
                </a:solidFill>
                <a:latin typeface="Roboto Variable"/>
              </a:rPr>
              <a:t>Industry-wise Analysis 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E35EC-85E2-8C7E-8C0E-A2579A00E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853248"/>
            <a:ext cx="8946541" cy="4195481"/>
          </a:xfrm>
        </p:spPr>
        <p:txBody>
          <a:bodyPr/>
          <a:lstStyle/>
          <a:p>
            <a:r>
              <a:rPr lang="en-US" dirty="0">
                <a:latin typeface="+mn-lt"/>
              </a:rPr>
              <a:t>AI adoption is analyzed across multiple industries.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Roboto Variable"/>
              </a:rPr>
              <a:t>Healthcare, Finance, IT, and Education show significant growth.</a:t>
            </a:r>
          </a:p>
          <a:p>
            <a:endParaRPr lang="en-US" dirty="0">
              <a:latin typeface="Roboto Variable"/>
            </a:endParaRPr>
          </a:p>
          <a:p>
            <a:r>
              <a:rPr lang="en-US" dirty="0">
                <a:latin typeface="Roboto Variable"/>
              </a:rPr>
              <a:t>Visual comparison helps identify high-performing industries. </a:t>
            </a:r>
            <a:br>
              <a:rPr lang="en-US" dirty="0"/>
            </a:br>
            <a:endParaRPr lang="en-US" dirty="0">
              <a:latin typeface="Roboto Variable"/>
            </a:endParaRPr>
          </a:p>
        </p:txBody>
      </p:sp>
    </p:spTree>
    <p:extLst>
      <p:ext uri="{BB962C8B-B14F-4D97-AF65-F5344CB8AC3E}">
        <p14:creationId xmlns:p14="http://schemas.microsoft.com/office/powerpoint/2010/main" val="1147077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B8666-9A9F-BE5F-D4D6-B0C7FB90C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Skill Popularity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15949-21A4-7070-D930-D5C3F5308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Analysis of popular AI skills such as Machine Learning, Data Science, NLP, and Cloud Computing.</a:t>
            </a:r>
          </a:p>
          <a:p>
            <a:endParaRPr lang="en-US" dirty="0"/>
          </a:p>
          <a:p>
            <a:r>
              <a:rPr lang="en-IN" dirty="0"/>
              <a:t>Skill popularity scores indicate current market demand.</a:t>
            </a:r>
          </a:p>
          <a:p>
            <a:endParaRPr lang="en-IN" dirty="0"/>
          </a:p>
          <a:p>
            <a:r>
              <a:rPr lang="en-US" dirty="0"/>
              <a:t>Helps students and professionals understand required skills.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5300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008A5-7EBE-1030-2AE6-66330F82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dirty="0">
                <a:solidFill>
                  <a:schemeClr val="bg1"/>
                </a:solidFill>
              </a:rPr>
              <a:t>Country-wise Investment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5E3B3-FE04-1A49-A244-2E6453E94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Global map visualization shows AI investment by country.</a:t>
            </a:r>
          </a:p>
          <a:p>
            <a:endParaRPr lang="en-US" dirty="0"/>
          </a:p>
          <a:p>
            <a:r>
              <a:rPr lang="en-US" dirty="0"/>
              <a:t>USA, India, and European countries lead in AI investments.</a:t>
            </a:r>
          </a:p>
          <a:p>
            <a:endParaRPr lang="en-US" dirty="0"/>
          </a:p>
          <a:p>
            <a:r>
              <a:rPr lang="en-US" dirty="0"/>
              <a:t>Country-wise analysis highlights regional AI development.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9FF659-BE2B-12DA-4BFC-5B0F9F427C9D}"/>
              </a:ext>
            </a:extLst>
          </p:cNvPr>
          <p:cNvSpPr txBox="1"/>
          <p:nvPr/>
        </p:nvSpPr>
        <p:spPr>
          <a:xfrm>
            <a:off x="3048000" y="32403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Country-wise Investment Analysis</a:t>
            </a:r>
          </a:p>
        </p:txBody>
      </p:sp>
    </p:spTree>
    <p:extLst>
      <p:ext uri="{BB962C8B-B14F-4D97-AF65-F5344CB8AC3E}">
        <p14:creationId xmlns:p14="http://schemas.microsoft.com/office/powerpoint/2010/main" val="3057114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2DA47-50C5-ADC8-7ED5-01628B673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32" y="212086"/>
            <a:ext cx="9404723" cy="1400530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8798A-B613-CB45-C082-A5C3D45F2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technology is growing consistently across industries and regions.</a:t>
            </a:r>
          </a:p>
          <a:p>
            <a:endParaRPr lang="en-US" dirty="0"/>
          </a:p>
          <a:p>
            <a:r>
              <a:rPr lang="en-US" dirty="0"/>
              <a:t>Investment and salary trends indicate strong demand for AI professionals.</a:t>
            </a:r>
          </a:p>
          <a:p>
            <a:endParaRPr lang="en-US" dirty="0"/>
          </a:p>
          <a:p>
            <a:r>
              <a:rPr lang="en-US" dirty="0"/>
              <a:t> BI effectively converts complex data into meaningful insights.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6440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C327FF-9BB0-276F-235C-8715A37920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380"/>
            <a:ext cx="12192000" cy="637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33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9645F1-3D04-5F42-2A8F-57A437439E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299"/>
            <a:ext cx="12192000" cy="646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769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7361CA-1352-614C-CD12-163C75B1F9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039"/>
            <a:ext cx="12192000" cy="647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82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A428AF-1E20-C0FC-4D26-1106F8A62C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292"/>
            <a:ext cx="12192000" cy="651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466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E7D6C-E4FA-9C7E-23DB-1EC7A2072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1084" y="2182761"/>
            <a:ext cx="7157884" cy="3490451"/>
          </a:xfrm>
        </p:spPr>
        <p:txBody>
          <a:bodyPr/>
          <a:lstStyle/>
          <a:p>
            <a:pPr algn="ctr"/>
            <a:r>
              <a:rPr lang="en-IN" sz="8800" dirty="0">
                <a:latin typeface="Algerian" panose="04020705040A02060702" pitchFamily="82" charset="0"/>
              </a:rPr>
              <a:t>Thanks you</a:t>
            </a:r>
          </a:p>
        </p:txBody>
      </p:sp>
    </p:spTree>
    <p:extLst>
      <p:ext uri="{BB962C8B-B14F-4D97-AF65-F5344CB8AC3E}">
        <p14:creationId xmlns:p14="http://schemas.microsoft.com/office/powerpoint/2010/main" val="8351107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52</TotalTime>
  <Words>345</Words>
  <Application>Microsoft Office PowerPoint</Application>
  <PresentationFormat>Widescreen</PresentationFormat>
  <Paragraphs>69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Algerian</vt:lpstr>
      <vt:lpstr>Arial Narrow</vt:lpstr>
      <vt:lpstr>Calibri</vt:lpstr>
      <vt:lpstr>Century Gothic</vt:lpstr>
      <vt:lpstr>Roboto Variable</vt:lpstr>
      <vt:lpstr>Wingdings 3</vt:lpstr>
      <vt:lpstr>Ion</vt:lpstr>
      <vt:lpstr>AI Technology Trends Dashboard (2020–2025) Power BI Project Presentation</vt:lpstr>
      <vt:lpstr>Introduction</vt:lpstr>
      <vt:lpstr>Project Objective</vt:lpstr>
      <vt:lpstr>Dataset Overview  </vt:lpstr>
      <vt:lpstr>Tools &amp; Technologies Used</vt:lpstr>
      <vt:lpstr>Key Performance Indicators (KPIs)  </vt:lpstr>
      <vt:lpstr>Industry-wise Analysis   </vt:lpstr>
      <vt:lpstr>Skill Popularity Analysis</vt:lpstr>
      <vt:lpstr> Country-wise Investment Analysis</vt:lpstr>
      <vt:lpstr>Conclusion</vt:lpstr>
      <vt:lpstr>PowerPoint Presentation</vt:lpstr>
      <vt:lpstr>PowerPoint Presentation</vt:lpstr>
      <vt:lpstr>PowerPoint Presentation</vt:lpstr>
      <vt:lpstr>PowerPoint Presentation</vt:lpstr>
      <vt:lpstr>Thanks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KAVIN BAJAJ</dc:creator>
  <cp:lastModifiedBy>KAVIN BAJAJ</cp:lastModifiedBy>
  <cp:revision>1</cp:revision>
  <dcterms:created xsi:type="dcterms:W3CDTF">2025-12-14T12:53:31Z</dcterms:created>
  <dcterms:modified xsi:type="dcterms:W3CDTF">2025-12-14T13:46:11Z</dcterms:modified>
</cp:coreProperties>
</file>